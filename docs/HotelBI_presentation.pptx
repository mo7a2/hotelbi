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03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otelBI,%20Hotel%20Revenue%20and%20Guest%20Insights%20Dashboard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 and Guest Insights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0416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hotel booking data into clear, explainable decisions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Abudagga - 202210006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Wasef Matar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307498 Graduation Project  ·  Business Intelligence and Data Analytics  ·  University of Petra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7105" y="537039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hotels have data — but not always usable insight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2988" y="12984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files pile up, while pricing and occupancy decisions are still often made by instinct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266944" cy="1965960"/>
          </a:xfrm>
          <a:prstGeom prst="roundRect">
            <a:avLst>
              <a:gd name="adj" fmla="val 3721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86968" y="1984248"/>
            <a:ext cx="384048" cy="38404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5608" y="19659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available but difficult to interpret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2532888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exports contain useful information about demand, cancellations, guests and channels, but a small hotel manager may not have the time or analytics background to clean and analyze 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266944" cy="1965960"/>
          </a:xfrm>
          <a:prstGeom prst="roundRect">
            <a:avLst>
              <a:gd name="adj" fmla="val 3721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675120" y="1984248"/>
            <a:ext cx="384048" cy="38404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512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19659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BI options do not fit the user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2532888"/>
            <a:ext cx="4626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can be expensive, generic or too complex for a small property. HotelBI focuses on the hotel metrics a manager actually needs and explains why each alert is triggered.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977640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problems lead to the same gap: data exists, but it is not turned into quick decisions.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0120" y="46177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3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closes that gap with one CSV upload, hotel-specific dashboards, rule-based alerts and short-term forecasting.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data, and why this 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Demand — Kaggle / Mostipak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66928" y="1792224"/>
            <a:ext cx="26060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76656" y="2425446"/>
            <a:ext cx="2386584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booking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374136" y="1792224"/>
            <a:ext cx="26060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83864" y="2425446"/>
            <a:ext cx="2386584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fields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181344" y="1792224"/>
            <a:ext cx="26060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91072" y="2425446"/>
            <a:ext cx="2386584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types  ·  City Hotel and Resort Hotel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88552" y="164592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988552" y="1792224"/>
            <a:ext cx="263347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98280" y="2425446"/>
            <a:ext cx="241401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period represented in the source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364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requirements — this dataset supports the project well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6928" y="3785616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behavior — cancellations, lead time, stay length and repeated guests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3364992"/>
            <a:ext cx="5175504" cy="2286000"/>
          </a:xfrm>
          <a:prstGeom prst="roundRect">
            <a:avLst>
              <a:gd name="adj" fmla="val 3200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48272" y="35661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information — market segment and distribution channel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48272" y="39319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performance — ADR and room-type information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cleaning decisions that mattered most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to make uploaded booking data consistent before calculating any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had to be handled deliberately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31136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contains fields with very different levels of missingness. Company and agent identifiers are often empty, while only a few records are missing children or country.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16352"/>
            <a:ext cx="4791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112,593   missing company values</a:t>
            </a:r>
            <a:endParaRPr lang="en-US" sz="2600" dirty="0">
              <a:solidFill>
                <a:srgbClr val="C00000"/>
              </a:solidFill>
            </a:endParaRPr>
          </a:p>
          <a:p>
            <a:r>
              <a:rPr sz="2600" b="1" dirty="0">
                <a:solidFill>
                  <a:srgbClr val="C00000"/>
                </a:solidFill>
                <a:latin typeface="Calibri"/>
              </a:rPr>
              <a:t>16,340   missing agent values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4041648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fields needed standard formats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95604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status values and channel labels have to be standardized before the dashboard can safely group or compare records.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27064" y="16459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28816" y="18470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Cancelled   standardized status</a:t>
            </a:r>
            <a:endParaRPr lang="en-US" sz="1800" dirty="0"/>
          </a:p>
          <a:p>
            <a:r>
              <a:rPr sz="1800" b="1">
                <a:solidFill>
                  <a:srgbClr val="12324A"/>
                </a:solidFill>
                <a:latin typeface="Calibri"/>
              </a:rPr>
              <a:t>YYYY-MM-DD   standardized website date format</a:t>
            </a:r>
          </a:p>
        </p:txBody>
      </p:sp>
      <p:sp>
        <p:nvSpPr>
          <p:cNvPr id="14" name="Text 12"/>
          <p:cNvSpPr/>
          <p:nvPr/>
        </p:nvSpPr>
        <p:spPr>
          <a:xfrm>
            <a:off x="6528816" y="2434215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is part of the product, not a separate analyst task. The manager should upload a file and receive either a clean result or a clear validation message.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28816" y="2852928"/>
            <a:ext cx="4791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28816" y="411480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28816" y="4956048"/>
            <a:ext cx="479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3550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booking data actually looks like</a:t>
            </a:r>
            <a:endParaRPr lang="en-US" sz="3200" dirty="0"/>
          </a:p>
        </p:txBody>
      </p:sp>
      <p:pic>
        <p:nvPicPr>
          <p:cNvPr id="11" name="Picture 10" descr="eda_booking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53949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 of source bookings are cancelled</a:t>
            </a:r>
            <a:endParaRPr lang="en-US" sz="1050" dirty="0"/>
          </a:p>
        </p:txBody>
      </p:sp>
      <p:pic>
        <p:nvPicPr>
          <p:cNvPr id="12" name="Picture 11" descr="eda_chann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371600"/>
            <a:ext cx="539496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7064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TA/TO is the dominant distribution channel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66928" y="5138928"/>
            <a:ext cx="11055096" cy="960120"/>
          </a:xfrm>
          <a:prstGeom prst="roundRect">
            <a:avLst>
              <a:gd name="adj" fmla="val 7619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914400" y="5138928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cancellation is large enough to affect revenue planning.    Right: channel concentration makes channel performance a useful management view.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metric is not enough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demand and booking behavior answer different management questions</a:t>
            </a:r>
            <a:endParaRPr lang="en-US" sz="1400" dirty="0"/>
          </a:p>
        </p:txBody>
      </p:sp>
      <p:pic>
        <p:nvPicPr>
          <p:cNvPr id="16" name="Picture 15" descr="eda_ad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55778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257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Rate distribution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46520" y="1554480"/>
            <a:ext cx="5175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has a mean of about 101.83 and a median of 94.58 in the source dataset.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2359152"/>
            <a:ext cx="5175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alone cannot explain whether a hotel is earning enough from the rooms it sells. HotelBI therefore presents several measures together: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46520" y="3246120"/>
            <a:ext cx="2487168" cy="914400"/>
          </a:xfrm>
          <a:prstGeom prst="roundRect">
            <a:avLst>
              <a:gd name="adj" fmla="val 6000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67512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34856" y="3246120"/>
            <a:ext cx="2487168" cy="914400"/>
          </a:xfrm>
          <a:prstGeom prst="roundRect">
            <a:avLst>
              <a:gd name="adj" fmla="val 6000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363456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capacity is being used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46520" y="4343400"/>
            <a:ext cx="5175504" cy="1234440"/>
          </a:xfrm>
          <a:prstGeom prst="roundRect">
            <a:avLst>
              <a:gd name="adj" fmla="val 5926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720840" y="4343400"/>
            <a:ext cx="46268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behavior — and the line that matters</a:t>
            </a:r>
            <a:endParaRPr lang="en-US" sz="3200" dirty="0"/>
          </a:p>
        </p:txBody>
      </p:sp>
      <p:pic>
        <p:nvPicPr>
          <p:cNvPr id="17" name="Picture 16" descr="g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594360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212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bookings analyzed for behavior and demand patterns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1228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812280" y="165506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922008" y="2263140"/>
            <a:ext cx="2112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guests in the source data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290304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290304" y="165506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days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400032" y="2263140"/>
            <a:ext cx="2112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booking lead time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12280" y="3090672"/>
            <a:ext cx="4809744" cy="2084832"/>
          </a:xfrm>
          <a:prstGeom prst="roundRect">
            <a:avLst>
              <a:gd name="adj" fmla="val 3509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114032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14032" y="3840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cancellation rate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14032" y="45537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behavior is not just descriptive. It helps a manager understand how early guests book, how much cancellation risk exists, and how much business comes from returning guests.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dashboard: one view of hotel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questions a hotel manager checks repeatedly</a:t>
            </a:r>
            <a:endParaRPr lang="en-US" sz="1400" dirty="0"/>
          </a:p>
        </p:txBody>
      </p:sp>
      <p:pic>
        <p:nvPicPr>
          <p:cNvPr id="21" name="Picture 2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5760720" cy="4069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623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ADR and RevPAR across the selected period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0" y="155448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3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can switch between short date ranges and see the headline metrics recalculate.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0" y="2194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7600" dirty="0">
              <a:solidFill>
                <a:srgbClr val="C00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583680" y="32186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 starts the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0" y="3950208"/>
            <a:ext cx="1572768" cy="1188720"/>
          </a:xfrm>
          <a:prstGeom prst="roundRect">
            <a:avLst>
              <a:gd name="adj" fmla="val 6154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83680" y="4096512"/>
            <a:ext cx="1572768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93408" y="4604004"/>
            <a:ext cx="135331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performance metrics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311896" y="3950208"/>
            <a:ext cx="1572768" cy="1188720"/>
          </a:xfrm>
          <a:prstGeom prst="roundRect">
            <a:avLst>
              <a:gd name="adj" fmla="val 6154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311896" y="4096512"/>
            <a:ext cx="1572768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8421624" y="4604004"/>
            <a:ext cx="135331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forecast window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40112" y="2359152"/>
            <a:ext cx="1581912" cy="4273660"/>
          </a:xfrm>
          <a:prstGeom prst="roundRect">
            <a:avLst>
              <a:gd name="adj" fmla="val 6154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0108692" y="2632953"/>
            <a:ext cx="1581912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combines revenue performance with booking-channel context so the manager can move from a raw file to an understandable operating picture.</a:t>
            </a:r>
            <a:endParaRPr lang="en-US" sz="1900" dirty="0">
              <a:solidFill>
                <a:srgbClr val="C00000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149840" y="4604004"/>
            <a:ext cx="136245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583680" y="53218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3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9AA8EE5C-8AC2-D3A3-A7E2-8CD2DAC3D3BD}"/>
              </a:ext>
            </a:extLst>
          </p:cNvPr>
          <p:cNvSpPr/>
          <p:nvPr/>
        </p:nvSpPr>
        <p:spPr>
          <a:xfrm>
            <a:off x="566928" y="464433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intentionally simple and explainable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 for a short 7–14 day planning window</a:t>
            </a:r>
            <a:endParaRPr lang="en-US" sz="1400" dirty="0"/>
          </a:p>
        </p:txBody>
      </p:sp>
      <p:pic>
        <p:nvPicPr>
          <p:cNvPr id="13" name="Picture 12" descr="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548640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is used as a directional planning aid, not presented as a black-box prediction.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813834"/>
              </p:ext>
            </p:extLst>
          </p:nvPr>
        </p:nvGraphicFramePr>
        <p:xfrm>
          <a:off x="6355080" y="1536192"/>
          <a:ext cx="5266944" cy="1536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naive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(repeat last value)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average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 of 300  (52%)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55080" y="3401568"/>
            <a:ext cx="5266944" cy="2148840"/>
          </a:xfrm>
          <a:prstGeom prst="roundRect">
            <a:avLst>
              <a:gd name="adj" fmla="val 3404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6"/>
          <p:cNvSpPr/>
          <p:nvPr/>
        </p:nvSpPr>
        <p:spPr>
          <a:xfrm>
            <a:off x="6656832" y="376227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prototype uses simple moving averages rather than a machine-learning model. That choice matches the project goal: keep the result understandable and avoid claiming precision the prototype cannot support.</a:t>
            </a:r>
            <a:endParaRPr lang="en-US" sz="1650" dirty="0">
              <a:solidFill>
                <a:srgbClr val="C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656832" y="46177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 is also clear: accuracy is expected to fall as the forecast window becomes longer.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66928" y="63550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engine, designed to explain every alert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55096" cy="749808"/>
          </a:xfrm>
          <a:prstGeom prst="roundRect">
            <a:avLst>
              <a:gd name="adj" fmla="val 7317"/>
            </a:avLst>
          </a:prstGeom>
          <a:solidFill>
            <a:srgbClr val="E8EF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 =  metric crosses a configured threshold  +  plain-language reason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occupancy, competitor rate gaps and cancellation spikes can be represented as threshold rules. Administrators can adjust the platform defaults, while managers see the reason an alert fired.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370818"/>
              </p:ext>
            </p:extLst>
          </p:nvPr>
        </p:nvGraphicFramePr>
        <p:xfrm>
          <a:off x="566928" y="2971800"/>
          <a:ext cx="6583680" cy="131673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Stockout weeks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stock held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 (ABC/XYZ + forecast error)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2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four-week cover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562.7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617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black-box recommendation — the trigger is visible to the user.</a:t>
            </a:r>
            <a:endParaRPr lang="en-US" sz="1300" dirty="0"/>
          </a:p>
          <a:p>
            <a:r>
              <a:rPr sz="1300" b="1">
                <a:solidFill>
                  <a:srgbClr val="1F2933"/>
                </a:solidFill>
                <a:latin typeface="Calibri"/>
              </a:rPr>
              <a:t>That transparency is a core design requirement of HotelBI.</a:t>
            </a:r>
          </a:p>
        </p:txBody>
      </p:sp>
      <p:sp>
        <p:nvSpPr>
          <p:cNvPr id="10" name="Shape 7"/>
          <p:cNvSpPr/>
          <p:nvPr/>
        </p:nvSpPr>
        <p:spPr>
          <a:xfrm>
            <a:off x="7452360" y="2971800"/>
            <a:ext cx="4169664" cy="2377440"/>
          </a:xfrm>
          <a:prstGeom prst="roundRect">
            <a:avLst>
              <a:gd name="adj" fmla="val 3077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7452360" y="3200400"/>
            <a:ext cx="4169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600" dirty="0">
              <a:solidFill>
                <a:srgbClr val="00206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452360" y="4224528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threshold types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452360" y="461772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occupancy  ·  competitor rate gap  ·  cancellation spike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" y="63550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configurable, so the system can be refined without replacing the whole analytics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HotelBI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6926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hotel manager actually does with the system</a:t>
            </a:r>
            <a:endParaRPr lang="en-US" sz="1400" dirty="0"/>
          </a:p>
        </p:txBody>
      </p:sp>
      <p:pic>
        <p:nvPicPr>
          <p:cNvPr id="11" name="Picture 10" descr="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59436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554480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720840" y="2057400"/>
            <a:ext cx="4901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 in as Hotel Manager</a:t>
            </a:r>
            <a:endParaRPr lang="en-US" sz="1300" dirty="0"/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     Open the revenue and occupancy dashboard.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2.  Upload the booking CSV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     The file is validated and standardized.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3.  Open Guest Insights / Forecasts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     Review behavior and the short-term trend.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4.  Open Alerts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     See the threshold and the reason behind each recommendation.</a:t>
            </a:r>
          </a:p>
        </p:txBody>
      </p:sp>
      <p:sp>
        <p:nvSpPr>
          <p:cNvPr id="9" name="Shape 6"/>
          <p:cNvSpPr/>
          <p:nvPr/>
        </p:nvSpPr>
        <p:spPr>
          <a:xfrm>
            <a:off x="6720840" y="5230368"/>
            <a:ext cx="4901184" cy="822960"/>
          </a:xfrm>
          <a:prstGeom prst="roundRect">
            <a:avLst>
              <a:gd name="adj" fmla="val 6667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0" y="5230368"/>
            <a:ext cx="4626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54F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hotelbii.netlify.app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420624" cy="420624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487168" y="1572768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booking records used for development and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5176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487168" y="2651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in the source data — a major planning signal.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730752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1824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73075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2600" dirty="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87168" y="37307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forecasting window is intentionally short and explainable.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1572768"/>
            <a:ext cx="2889504" cy="3328416"/>
          </a:xfrm>
          <a:prstGeom prst="roundRect">
            <a:avLst>
              <a:gd name="adj" fmla="val 2532"/>
            </a:avLst>
          </a:prstGeom>
          <a:solidFill>
            <a:srgbClr val="C00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006840" y="1783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06840" y="219456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website is a front-end prototype. Uploaded data, alerts and account changes do not persist after refresh, and the dashboard occupancy trend is still illustrative rather than calculated from a complete room-inventory calendar.</a:t>
            </a:r>
            <a:endParaRPr lang="en-US" sz="115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" y="5074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3621" y="5916168"/>
            <a:ext cx="29240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1066</Words>
  <Application>Microsoft Office PowerPoint</Application>
  <PresentationFormat>Widescreen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Analysis for Inventory Management</dc:title>
  <dc:subject>PptxGenJS Presentation</dc:subject>
  <dc:creator>Saif Mashalieh, Mohammad Marei</dc:creator>
  <cp:lastModifiedBy>ليث اشرف سالم مصطفى</cp:lastModifiedBy>
  <cp:revision>3</cp:revision>
  <dcterms:created xsi:type="dcterms:W3CDTF">2026-08-24T16:37:30Z</dcterms:created>
  <dcterms:modified xsi:type="dcterms:W3CDTF">2026-08-31T18:27:08Z</dcterms:modified>
</cp:coreProperties>
</file>